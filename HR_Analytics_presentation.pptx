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3306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0" y="2606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PRDA-03   ·   PROJECT REPORT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0" y="29718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Profile, Diversity, Hiring &amp; Composition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75504" y="4572000"/>
            <a:ext cx="1828800" cy="0"/>
          </a:xfrm>
          <a:prstGeom prst="line">
            <a:avLst/>
          </a:prstGeom>
          <a:noFill/>
          <a:ln w="12700">
            <a:solidFill>
              <a:srgbClr val="2F5B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0" y="48463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7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0" y="512064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V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0" y="55321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PTID-CDA-SEP-26-11151</a:t>
            </a:r>
            <a:endParaRPr lang="en-US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66C221A-368B-0ADE-1511-0286F7C62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959" y="498721"/>
            <a:ext cx="1695839" cy="16958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PRDA-03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8006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80060" y="2191761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profile, diversity, and hiring across 22,214 employee records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22,214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00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07080" y="420810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18,285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4764211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65520" y="416238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25.02%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4745549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854440" y="416238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38.47 yrs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466530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8288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64008" cy="1828800"/>
          </a:xfrm>
          <a:prstGeom prst="rect">
            <a:avLst/>
          </a:prstGeom>
          <a:solidFill>
            <a:srgbClr val="131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18,285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22,214 total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349240" cy="18288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920240"/>
            <a:ext cx="64008" cy="182880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74.98% / 25.02%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834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 VS  REMOTE 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200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office-based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8288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069080"/>
            <a:ext cx="64008" cy="182880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97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38.47 yrs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029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349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mature workforce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349240" cy="18288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4069080"/>
            <a:ext cx="64008" cy="18288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97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50.8 / 46.5 / 2.7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029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349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/ Non-Conf.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trend by year</a:t>
            </a:r>
            <a:endParaRPr lang="en-US" sz="3200" dirty="0"/>
          </a:p>
        </p:txBody>
      </p:sp>
      <p:pic>
        <p:nvPicPr>
          <p:cNvPr id="4" name="Image 0" descr="/home/claude/new_hiring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28741"/>
            <a:ext cx="7406640" cy="23892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6676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01168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high-volume hiring of roughly 1,050-1,150 employees per year from 2001 through 2019.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shows a low figure (220) as it's a partial first year in the dataset.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dip in 2020 (1,012) is worth noting against headcount targets — plausibly a pandemic effect.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distribution</a:t>
            </a:r>
            <a:endParaRPr lang="en-US" sz="3200" dirty="0"/>
          </a:p>
        </p:txBody>
      </p:sp>
      <p:pic>
        <p:nvPicPr>
          <p:cNvPr id="4" name="Image 0" descr="/home/claude/new_gender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181699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6676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01168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50.81%, Female 46.46%, Non-Conforming 2.72% — a reasonably balanced split within a healthy band.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confirming the balance holds within individual departments and at senior levels, not just company-wide.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by department</a:t>
            </a:r>
            <a:endParaRPr lang="en-US" sz="3200" dirty="0"/>
          </a:p>
        </p:txBody>
      </p:sp>
      <p:pic>
        <p:nvPicPr>
          <p:cNvPr id="4" name="Image 0" descr="/home/claude/new_by_department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030719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6676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01168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dominates with 5,501 employees — roughly 1 in 3 of the active workforce.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(2,747) is the next largest, a long tail down to Auditing (40).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informs where hiring and restructuring effort should focus.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by race</a:t>
            </a:r>
            <a:endParaRPr lang="en-US" sz="3200" dirty="0"/>
          </a:p>
        </p:txBody>
      </p:sp>
      <p:pic>
        <p:nvPicPr>
          <p:cNvPr id="4" name="Image 0" descr="/home/claude/new_by_race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71780"/>
            <a:ext cx="7406640" cy="4103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6676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01168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is the largest group (5,214), followed by Two or More Races and Black or African American (both 2,983).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(2,936) is closely represented as well.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multi-racial workforce across seven categories, with no single group holding a majority.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by state</a:t>
            </a:r>
            <a:endParaRPr lang="en-US" sz="3200" dirty="0"/>
          </a:p>
        </p:txBody>
      </p:sp>
      <p:pic>
        <p:nvPicPr>
          <p:cNvPr id="4" name="Image 0" descr="/home/claude/new_b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28377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6676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01168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holds 14,788 employees — about 81% of the active workforce.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states trail far behind (Pennsylvania 930, Illinois 730, and so on).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heavy concentration is a real business-continuity consideration.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&amp; recommendations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WORKFORCE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stable, and predominantly office-based, with a 25/75 remote-to-HQ split.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has been remarkably steady (1,100/year) for two decades — a mature, replacement-driven phase.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is close to balanced (50.8% / 46.5% / 2.7%); race distribution shows no single majority beyond White (28.5%).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is heavily concentrated in Ohio (81%) and in Engineering (30%).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24028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geographic concentration risk in Ohio; consider remote or secondary-location hiring to diversify.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gender/race balance on a recurring cadence, especially within departments and senior roles.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staffing depth in Legal and Auditing to confirm adequate coverage for compliance-critical functions.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hiring predictably — a stable 1,100/year pace for two decades supports steady-state, not high-growth, recruiting capacity.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507</Words>
  <Application>Microsoft Office PowerPoint</Application>
  <PresentationFormat>Widescreen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Kavin V</cp:lastModifiedBy>
  <cp:revision>2</cp:revision>
  <dcterms:created xsi:type="dcterms:W3CDTF">2026-09-19T16:17:30Z</dcterms:created>
  <dcterms:modified xsi:type="dcterms:W3CDTF">2026-09-19T16:45:08Z</dcterms:modified>
</cp:coreProperties>
</file>